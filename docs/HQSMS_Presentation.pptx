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D6-422C-8AD1-A28B4F99CC3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AD6-422C-8AD1-A28B4F99CC36}"/>
              </c:ext>
            </c:extLst>
          </c:dPt>
          <c:dPt>
            <c:idx val="2"/>
            <c:invertIfNegative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D6-422C-8AD1-A28B4F99CC36}"/>
              </c:ext>
            </c:extLst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AD6-422C-8AD1-A28B4F99CC3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AD6-422C-8AD1-A28B4F99CC36}"/>
              </c:ext>
            </c:extLst>
          </c:dPt>
          <c:dPt>
            <c:idx val="5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AD6-422C-8AD1-A28B4F99CC36}"/>
              </c:ext>
            </c:extLst>
          </c:dPt>
          <c:cat>
            <c:strRef>
              <c:f>Sheet1!$A$2:$A$7</c:f>
              <c:strCache>
                <c:ptCount val="6"/>
                <c:pt idx="0">
                  <c:v>0-5</c:v>
                </c:pt>
                <c:pt idx="1">
                  <c:v>5-10</c:v>
                </c:pt>
                <c:pt idx="2">
                  <c:v>10-20</c:v>
                </c:pt>
                <c:pt idx="3">
                  <c:v>20-30</c:v>
                </c:pt>
                <c:pt idx="4">
                  <c:v>30-45</c:v>
                </c:pt>
                <c:pt idx="5">
                  <c:v>45+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310</c:v>
                </c:pt>
                <c:pt idx="2">
                  <c:v>490</c:v>
                </c:pt>
                <c:pt idx="3">
                  <c:v>280</c:v>
                </c:pt>
                <c:pt idx="4">
                  <c:v>140</c:v>
                </c:pt>
                <c:pt idx="5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AD6-422C-8AD1-A28B4F99C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Queue</c:v>
                </c:pt>
              </c:strCache>
            </c:strRef>
          </c:tx>
          <c:spPr>
            <a:ln w="31750" cap="flat">
              <a:solidFill>
                <a:srgbClr val="1B6C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6CA8"/>
              </a:solidFill>
              <a:ln w="9525" cap="flat">
                <a:solidFill>
                  <a:srgbClr val="1B6CA8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8am</c:v>
                </c:pt>
                <c:pt idx="1">
                  <c:v>9am</c:v>
                </c:pt>
                <c:pt idx="2">
                  <c:v>10am</c:v>
                </c:pt>
                <c:pt idx="3">
                  <c:v>11am</c:v>
                </c:pt>
                <c:pt idx="4">
                  <c:v>12pm</c:v>
                </c:pt>
                <c:pt idx="5">
                  <c:v>1pm</c:v>
                </c:pt>
                <c:pt idx="6">
                  <c:v>2pm</c:v>
                </c:pt>
                <c:pt idx="7">
                  <c:v>3pm</c:v>
                </c:pt>
                <c:pt idx="8">
                  <c:v>4pm</c:v>
                </c:pt>
                <c:pt idx="9">
                  <c:v>5pm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8</c:v>
                </c:pt>
                <c:pt idx="2">
                  <c:v>18</c:v>
                </c:pt>
                <c:pt idx="3">
                  <c:v>22</c:v>
                </c:pt>
                <c:pt idx="4">
                  <c:v>15</c:v>
                </c:pt>
                <c:pt idx="5">
                  <c:v>10</c:v>
                </c:pt>
                <c:pt idx="6">
                  <c:v>7</c:v>
                </c:pt>
                <c:pt idx="7">
                  <c:v>4</c:v>
                </c:pt>
                <c:pt idx="8">
                  <c:v>2</c:v>
                </c:pt>
                <c:pt idx="9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01B-4323-9F88-5636ABE51A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Wait Time (min)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43-4DBC-B7BA-76D12539D532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43-4DBC-B7BA-76D12539D532}"/>
              </c:ext>
            </c:extLst>
          </c:dPt>
          <c:dPt>
            <c:idx val="2"/>
            <c:invertIfNegative val="0"/>
            <c:bubble3D val="0"/>
            <c:spPr>
              <a:solidFill>
                <a:srgbClr val="1B6C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C43-4DBC-B7BA-76D12539D532}"/>
              </c:ext>
            </c:extLst>
          </c:dPt>
          <c:dPt>
            <c:idx val="3"/>
            <c:invertIfNegative val="0"/>
            <c:bubble3D val="0"/>
            <c:spPr>
              <a:solidFill>
                <a:srgbClr val="F6AE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C43-4DBC-B7BA-76D12539D53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
(3 servers)</c:v>
                </c:pt>
                <c:pt idx="1">
                  <c:v>+ 1 Server
(peak)</c:v>
                </c:pt>
                <c:pt idx="2">
                  <c:v>Priority
Queuing</c:v>
                </c:pt>
                <c:pt idx="3">
                  <c:v>Both
Combined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31.2</c:v>
                </c:pt>
                <c:pt idx="1">
                  <c:v>18.399999999999999</c:v>
                </c:pt>
                <c:pt idx="2">
                  <c:v>12</c:v>
                </c:pt>
                <c:pt idx="3">
                  <c:v>9.8000000000000007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C43-4DBC-B7BA-76D12539D5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859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4206240" cy="50337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KENYAN PUBLIC HOSPITALS QUEUE SIMULATION AND MODELLING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4251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731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63440" y="139903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wait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+1 server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731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903720" y="139903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service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patients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743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663440" y="341071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patient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used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2743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M/M/c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903720" y="341071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Queueing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(Erlang-C based)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487832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Long Queues in Kenyan Hospitals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28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572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8046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43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Excessive Wait Times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5544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waits at KNH exceed 4 hours during peak periods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4572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21408"/>
            <a:ext cx="64008" cy="8046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176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Congestion &amp; Overcrowding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4871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patient volumes overwhelm limited medical staff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54096"/>
            <a:ext cx="4572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54096"/>
            <a:ext cx="64008" cy="8046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08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Manual Queue 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4198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tools; decisions made on intuition alone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86784"/>
            <a:ext cx="4572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986784"/>
            <a:ext cx="64008" cy="8046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40416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Suboptimal Resource 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43525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idle during off-peak; overloaded during peaks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66360" y="1188720"/>
            <a:ext cx="3657600" cy="3611880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1234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349240" y="17830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proper modelling, it is difficult to determine optimal staffing levels or service arrangements.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-111517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Outpatient services  |  Context: Kenyan public hospitals 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HQSMS sets out to achieve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28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AIM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18872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model and simulate outpatient queue systems in Kenyan public hospitals in order to enhance service efficiency.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11680"/>
            <a:ext cx="411480" cy="1188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Patient 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existing queue behaviour and patient journey across registration, consultation, and pharmacy stages.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011680"/>
            <a:ext cx="411480" cy="1188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Simulation 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DES engine using M/M/c queueing theory — supporting both random and trace-driven modes.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29000"/>
            <a:ext cx="411480" cy="1188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Performance Metrics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waiting times, queue lengths, throughput, and server utilisation in real-time.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429000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429000"/>
            <a:ext cx="411480" cy="1188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1208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 Alternatives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what-if scenarios: adding servers, changing queue discipline, or adjusting arrival patterns.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Used Synthetic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realities of Kenyan healthcare data access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45311"/>
            <a:ext cx="8229600" cy="228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38440"/>
            <a:ext cx="8412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38440"/>
            <a:ext cx="640080" cy="10789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3619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261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Data Sensitivity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60934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hospitals handle highly confidential patient records. Ethical and legal restrictions make real data inaccessible without lengthy institutional approval processes.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72880"/>
            <a:ext cx="8412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67712"/>
            <a:ext cx="640080" cy="1078992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7063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2496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Patient Volume in Private Hospitals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84378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facilities that are digitised see far fewer patients — insufficient volume to build a representative, statistically valid simulation dataset.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07320"/>
            <a:ext cx="8412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97580"/>
            <a:ext cx="640080" cy="10789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0507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730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Digitalised Queue Systems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07822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Kenyan public hospitals lack electronic queue management, meaning arrivals and service events are not recorded digitally. There is simply no data to collect.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EFF7F6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6863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Synthetic dataset generated from observed patterns — 1,000+ records, 48 hrs, peak 35 pts/hr, off-peak 8-18 pts/hr, Poisson arrivals, exponential service times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Theoretical Foundation: M/M/c Queueing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mathematics behind the simulation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28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3035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M/M/c Model Components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371600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(Poisson λ)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2011680"/>
            <a:ext cx="457200" cy="0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2342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06040" y="1691640"/>
            <a:ext cx="1371600" cy="64008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691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(FIFO/Priority)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77640" y="2011680"/>
            <a:ext cx="457200" cy="0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2342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572768"/>
            <a:ext cx="73152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57276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75688"/>
            <a:ext cx="73152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07568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578608"/>
            <a:ext cx="73152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5786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2578608"/>
            <a:ext cx="5074920" cy="411480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2624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Intensity: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2624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063240"/>
            <a:ext cx="5074920" cy="411480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Erlang-C (P_wait):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547872"/>
            <a:ext cx="5074920" cy="411480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35935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Wait: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3593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Wq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032504"/>
            <a:ext cx="5074920" cy="411480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" y="40782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Length: 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40782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Lq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1207008"/>
            <a:ext cx="3063240" cy="3842070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89320" y="12618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 Disciplines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0" y="1709928"/>
            <a:ext cx="26060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8076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FIFO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76052" y="19110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First-In, First-Out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2560320"/>
            <a:ext cx="26060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8076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78040" y="27066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urgency level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(critical first)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0" y="3337560"/>
            <a:ext cx="26060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0362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03882" y="34381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Last-In, First-Out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56521" y="4151376"/>
            <a:ext cx="26060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080760" y="4389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Robin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203882" y="43871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server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1554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55619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design with React frontend &amp; FastAPI backend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26526"/>
            <a:ext cx="8229600" cy="45719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46590"/>
            <a:ext cx="2606040" cy="3749040"/>
          </a:xfrm>
          <a:prstGeom prst="rect">
            <a:avLst/>
          </a:prstGeom>
          <a:solidFill>
            <a:srgbClr val="1B6CA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" y="1252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18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Zustand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2331720" cy="228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Upload UI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15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Config Panel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374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Results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325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Scenario Manager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71800" y="3154680"/>
            <a:ext cx="2743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9232" y="292608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6120" y="1046590"/>
            <a:ext cx="2606040" cy="3749040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1252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1618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+ Uvicorn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1938528"/>
            <a:ext cx="2331720" cy="228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File Parsing (CSV/XLSX/JSON)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715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Simulation Execution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374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Insights 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40325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Scenario Management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3154680"/>
            <a:ext cx="2743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9592" y="292608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26480" y="1046590"/>
            <a:ext cx="2606040" cy="3749040"/>
          </a:xfrm>
          <a:prstGeom prst="rect">
            <a:avLst/>
          </a:prstGeom>
          <a:solidFill>
            <a:srgbClr val="1B4F7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1252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ENGINE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1618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 — pure Python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1938528"/>
            <a:ext cx="2331720" cy="228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Event Loop (priority queue)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715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M/M/c Model + Erlang-C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374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Trace-Driven Replay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40325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Metrics Calculator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6369" y="4817693"/>
            <a:ext cx="8412480" cy="274320"/>
          </a:xfrm>
          <a:prstGeom prst="rect">
            <a:avLst/>
          </a:prstGeom>
          <a:solidFill>
            <a:srgbClr val="EEF7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57809" y="489283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State Management: Zustand (frontend)  |  Storage: In-memory per session — no persistent patient data stored  |  Dev tools: Vite, ESLint, Git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Simulation Modes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766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enough for both research and operational use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30998"/>
            <a:ext cx="8229600" cy="228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8274"/>
            <a:ext cx="3977640" cy="3611880"/>
          </a:xfrm>
          <a:prstGeom prst="rect">
            <a:avLst/>
          </a:prstGeom>
          <a:solidFill>
            <a:srgbClr val="1B6CA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MODE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Markovian / M/M/c Simulation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Patient arrivals generated via Poisson distribution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694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Service times drawn from exponential distribution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815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configures: λ, μ, number of servers (c), duration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935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Queue discipline selectable (FIFO, Priority, LIFO, RR)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1056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Erlang-C metrics calculated analytically in real-time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1098274"/>
            <a:ext cx="4251960" cy="3611880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2618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TRACE-DRIVEN MODE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replay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057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 CSV / Excel / JSON patient records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56946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Required fields: patient_id, arrival_time, service_start, service_end, department, priority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0815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Replays exact arrival &amp; service sequences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5935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Validates and anonymises patient IDs automatically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410565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Ideal for model validation and real scenario analysis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4796028"/>
            <a:ext cx="8412480" cy="32004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48874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modes output identical metrics: avg wait time, throughput, utilisation, max queue length, wait-time distribution, per-server stats.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Metrics &amp; Interactive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 for healthcare administrators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28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572768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Wait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2029968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patients wait before service begins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1188720"/>
            <a:ext cx="1572768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03120" y="1234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03120" y="17373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76272" y="2029968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served per hour across all servers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1188720"/>
            <a:ext cx="1572768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234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40480" y="17373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Utilisation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13632" y="2029968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time servers are actively serving patients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0" y="1188720"/>
            <a:ext cx="1572768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77840" y="1234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77840" y="17373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 Length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50992" y="2029968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&amp; maximum number of patients waiting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0" y="1188720"/>
            <a:ext cx="1572768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15200" y="1234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15200" y="17373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Erlang-C P(W)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88352" y="2029968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any arriving patient has to wait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41148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2907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Wait Time Distribution</a:t>
            </a:r>
            <a:endParaRPr lang="en-US" sz="12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11480" y="3154680"/>
          <a:ext cx="397764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4663440" y="2834640"/>
            <a:ext cx="41148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800600" y="2907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Queue Length Over Time</a:t>
            </a:r>
            <a:endParaRPr lang="en-US" sz="1200" dirty="0"/>
          </a:p>
        </p:txBody>
      </p:sp>
      <p:graphicFrame>
        <p:nvGraphicFramePr>
          <p:cNvPr id="30" name="Chart 1"/>
          <p:cNvGraphicFramePr/>
          <p:nvPr/>
        </p:nvGraphicFramePr>
        <p:xfrm>
          <a:off x="4709160" y="3154680"/>
          <a:ext cx="397764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KE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Evidence-based recommendations from simulation outputs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917084"/>
            <a:ext cx="8229600" cy="228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88135"/>
            <a:ext cx="3017520" cy="3703321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17099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simulation &amp; collect output metrics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6968" y="236829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evaluates thresholds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35808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6968" y="302666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generated with priority tags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94176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6968" y="368503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insight includes estimated impact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352544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6968" y="43434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 apply suggestion and re-simulate instantly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66160" y="1088136"/>
            <a:ext cx="52120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66160" y="1100908"/>
            <a:ext cx="685800" cy="1115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16002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43400" y="12435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 server during peak hours (8am–12pm)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43400" y="16184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Avg wait time by 41%-63%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43400" y="1874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utilisation: 94% (threshold: 90%)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0" y="2368296"/>
            <a:ext cx="52120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66160" y="2377838"/>
            <a:ext cx="685800" cy="1115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288036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43400" y="25237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Priority Queuing for critical patients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28986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Critical wait by 68%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43400" y="31546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Urgency levels 1–2 wait avg 42 min vs. target 10 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66160" y="3648456"/>
            <a:ext cx="52120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66160" y="3619533"/>
            <a:ext cx="685800" cy="1115568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41605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43400" y="38039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Stagger patient scheduling to reduce peak load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43400" y="41788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Queue length by ~30%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43400" y="44348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Arrival spike 8–10am drives 55% of daily congestion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052828" y="4791456"/>
            <a:ext cx="5212080" cy="29260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305878" y="482346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insights are also generated , such as off-peak staffing reduction opportunities.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Results &amp;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synthetic KNH-modelled data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28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Wait Time — Scenario Comparison (minutes)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1508760"/>
          <a:ext cx="49377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988648" y="1158704"/>
            <a:ext cx="1600200" cy="1261872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1261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754880" y="17830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time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54880" y="21396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Server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624232" y="1158704"/>
            <a:ext cx="1600200" cy="1261872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1261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583680" y="17830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service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critical pts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583680" y="21396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80200" y="2560320"/>
            <a:ext cx="1600200" cy="1261872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0" y="26334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4754880" y="31546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efficiency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servers, trace)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54880" y="35112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640830" y="2560320"/>
            <a:ext cx="1600200" cy="1261872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83680" y="26334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±5%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583680" y="31546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theoretical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Erlang-C values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583680" y="35112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65760" y="3675888"/>
            <a:ext cx="8412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0292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Workflow (Trace-Driven Run)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4114800"/>
            <a:ext cx="932688" cy="685800"/>
          </a:xfrm>
          <a:prstGeom prst="rect">
            <a:avLst/>
          </a:prstGeom>
          <a:solidFill>
            <a:srgbClr val="1B6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133088"/>
            <a:ext cx="93268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(2,200 records)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389888" y="429768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517904" y="4114800"/>
            <a:ext cx="932688" cy="685800"/>
          </a:xfrm>
          <a:prstGeom prst="rect">
            <a:avLst/>
          </a:prstGeom>
          <a:solidFill>
            <a:srgbClr val="1B6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517904" y="4133088"/>
            <a:ext cx="93268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450592" y="429768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578608" y="4114800"/>
            <a:ext cx="932688" cy="685800"/>
          </a:xfrm>
          <a:prstGeom prst="rect">
            <a:avLst/>
          </a:prstGeom>
          <a:solidFill>
            <a:srgbClr val="1B6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78608" y="4133088"/>
            <a:ext cx="93268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servers / FIFO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3511296" y="429768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639312" y="4114800"/>
            <a:ext cx="932688" cy="685800"/>
          </a:xfrm>
          <a:prstGeom prst="rect">
            <a:avLst/>
          </a:prstGeom>
          <a:solidFill>
            <a:srgbClr val="1B6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39312" y="4133088"/>
            <a:ext cx="93268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0" y="429768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700016" y="4114800"/>
            <a:ext cx="932688" cy="685800"/>
          </a:xfrm>
          <a:prstGeom prst="rect">
            <a:avLst/>
          </a:prstGeom>
          <a:solidFill>
            <a:srgbClr val="1B6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00016" y="4133088"/>
            <a:ext cx="93268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18.4 min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wait, 81% util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632704" y="429768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760720" y="4114800"/>
            <a:ext cx="932688" cy="685800"/>
          </a:xfrm>
          <a:prstGeom prst="rect">
            <a:avLst/>
          </a:prstGeom>
          <a:solidFill>
            <a:srgbClr val="1B6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760720" y="4133088"/>
            <a:ext cx="93268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6693408" y="429768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821424" y="4114800"/>
            <a:ext cx="932688" cy="685800"/>
          </a:xfrm>
          <a:prstGeom prst="rect">
            <a:avLst/>
          </a:prstGeom>
          <a:solidFill>
            <a:srgbClr val="1B6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21424" y="4133088"/>
            <a:ext cx="93268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with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server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7754112" y="429768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→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882128" y="4114800"/>
            <a:ext cx="932688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882128" y="4133088"/>
            <a:ext cx="93268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faster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Outpatient Patient Flow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four-stage journey simulated by HQSMS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28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7830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7008" y="1508760"/>
            <a:ext cx="731520" cy="73152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51790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700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arrives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registers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96312" y="2331720"/>
            <a:ext cx="338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6CA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34640" y="1417320"/>
            <a:ext cx="17830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508760"/>
            <a:ext cx="731520" cy="73152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51790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👨‍⚕️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34640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6700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by doctor;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triaged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45152" y="2331720"/>
            <a:ext cx="338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6CA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83480" y="1417320"/>
            <a:ext cx="17830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04688" y="1508760"/>
            <a:ext cx="731520" cy="7315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4688" y="151790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83480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Laboratory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26700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ordered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processed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93992" y="2331720"/>
            <a:ext cx="338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6CA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132320" y="1417320"/>
            <a:ext cx="17830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53528" y="1508760"/>
            <a:ext cx="731520" cy="731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53528" y="151790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Pharmacy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26700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dispensed &amp; exit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977640"/>
            <a:ext cx="2103120" cy="566928"/>
          </a:xfrm>
          <a:prstGeom prst="rect">
            <a:avLst/>
          </a:prstGeom>
          <a:solidFill>
            <a:srgbClr val="F0F9FF"/>
          </a:solidFill>
          <a:ln w="1016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9776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Arrivals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8–35 patients/hr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79476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794760"/>
            <a:ext cx="201168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114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Consultation &amp; Pharmacy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(Lab optional).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78608" y="379476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78608" y="3794760"/>
            <a:ext cx="201168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78608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 of Scope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70048" y="4114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admissions, A&amp;E, surgical units — distinct patient flows.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91456" y="379476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91456" y="3794760"/>
            <a:ext cx="201168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Assumptions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82896" y="4114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arrivals, exponential service, constant server count per run.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04304" y="379476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004304" y="3794760"/>
            <a:ext cx="201168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04304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95744" y="4114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levels 1–5; Level 1 = critical (pre-empts queue).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frameworks powering HQSMS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28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TypeScript, Zustand, CSS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Component-based SPA; type-safe; global state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(Python), Uvicorn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async REST API; automatic OpenAPI docs; Python ecosystem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(custom DES)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external library dependency — full control over event loop &amp;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Parsing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openpyxl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CSV/Excel/JSON ingestion and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(session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persistent patient data — privacy by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Vite, ESLint, 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bundling; code quality; version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161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194560" y="12161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63440" y="12161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166420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7282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94560" y="1728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React, TypeScript, Zustand, CSS</a:t>
            </a:r>
            <a:endParaRPr lang="en-US" sz="1100" dirty="0"/>
          </a:p>
        </p:txBody>
      </p:sp>
      <p:sp>
        <p:nvSpPr>
          <p:cNvPr id="5" name="Text 10"/>
          <p:cNvSpPr/>
          <p:nvPr/>
        </p:nvSpPr>
        <p:spPr>
          <a:xfrm>
            <a:off x="4663440" y="17282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SPA; type-safe; global state management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2121408"/>
            <a:ext cx="8412480" cy="457200"/>
          </a:xfrm>
          <a:prstGeom prst="rect">
            <a:avLst/>
          </a:prstGeom>
          <a:solidFill>
            <a:srgbClr val="F0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1854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94560" y="21854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(Python), Uvicorn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63440" y="21854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async REST API; automatic OpenAPI docs; Python ecosystem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65760" y="257860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94560" y="26426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(custom DES)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63440" y="2642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library dependency </a:t>
            </a:r>
            <a:r>
              <a:rPr lang="en-KE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 control over event loop &amp; metrics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035808"/>
            <a:ext cx="8412480" cy="457200"/>
          </a:xfrm>
          <a:prstGeom prst="rect">
            <a:avLst/>
          </a:prstGeom>
          <a:solidFill>
            <a:srgbClr val="F0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099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Parsing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19456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openpyxl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663440" y="30998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CSV/Excel/JSON ingestion and validation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65760" y="349300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5570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194560" y="35570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In-memory (session only)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663440" y="35570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patient data </a:t>
            </a:r>
            <a:r>
              <a:rPr lang="en-KE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privacy by design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65760" y="3950208"/>
            <a:ext cx="8412480" cy="457200"/>
          </a:xfrm>
          <a:prstGeom prst="rect">
            <a:avLst/>
          </a:prstGeom>
          <a:solidFill>
            <a:srgbClr val="F0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0142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194560" y="4014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Vite, ESLint, Git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663440" y="40142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bundling; code quality; version control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Enhancements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reflection and the road ahead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28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9319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Current Limitations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Limited real hospital data. This is why synthetic dataset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768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staff behaviour changes are hard to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Results may not generalise without hospital-specific calibration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3924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appointment scheduling logic in v1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502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in-memory only. There is no session persistence between runs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188720"/>
            <a:ext cx="4297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188720"/>
            <a:ext cx="429768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070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Future Enhancements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171907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Real-time EHR integration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1965960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feeds from hospital systems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227685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Appointment scheduling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17720" y="2523744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time-slot allocation module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283464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ML demand forecasting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17720" y="3081528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peak hours using historical patterns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339242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Multi-hospital scaling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17720" y="363931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across facility network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395020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Mobile admin dashboard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17720" y="4197096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On-the-go monitoring for hospital managers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8235" y="479125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system provides a practical, scalable foundation for future healthcare optimisation tools in Kenya.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Queue Simulation &amp; Modelling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011680" cy="1920240"/>
          </a:xfrm>
          <a:prstGeom prst="rect">
            <a:avLst/>
          </a:prstGeom>
          <a:solidFill>
            <a:srgbClr val="0D213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addressed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waits, congestion and manual queue management in Kenyan public hospitals.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508760"/>
            <a:ext cx="2011680" cy="1920240"/>
          </a:xfrm>
          <a:prstGeom prst="rect">
            <a:avLst/>
          </a:prstGeom>
          <a:solidFill>
            <a:srgbClr val="0D213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572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17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delivered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51760" y="2377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DES platform with M/M/c engine, two simulation modes, and AI recommendations.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2011680" cy="1920240"/>
          </a:xfrm>
          <a:prstGeom prst="rect">
            <a:avLst/>
          </a:prstGeom>
          <a:solidFill>
            <a:srgbClr val="0D213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54880" y="1572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ethics upheld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2377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used responsibly; no real patient data stored or persisted.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1508760"/>
            <a:ext cx="2011680" cy="1920240"/>
          </a:xfrm>
          <a:prstGeom prst="rect">
            <a:avLst/>
          </a:prstGeom>
          <a:solidFill>
            <a:srgbClr val="0D213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49440" y="1572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408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impact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40880" y="2377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41% wait time reduction and 68% faster care for critical patients under simulation.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HQSMS is a practical, open-source simulation tool built for Kenya's healthcare reality 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 administrators to make data-driven decisions without disrupting live operations.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Ntwiga Kennedy Kimathi  |  CIT-223-050/2022  |  Supervisor: Mr. Njiru  |  Multimedia University of Kenya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1608</Words>
  <Application>Microsoft Office PowerPoint</Application>
  <PresentationFormat>On-screen Show (16:9)</PresentationFormat>
  <Paragraphs>337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Queue Simulation and Modelling System</dc:title>
  <dc:subject>PptxGenJS Presentation</dc:subject>
  <dc:creator>Ntwiga Kennedy Kimathi</dc:creator>
  <cp:lastModifiedBy>Junior Kennedy</cp:lastModifiedBy>
  <cp:revision>6</cp:revision>
  <dcterms:created xsi:type="dcterms:W3CDTF">2026-05-29T11:03:52Z</dcterms:created>
  <dcterms:modified xsi:type="dcterms:W3CDTF">2026-06-04T12:33:36Z</dcterms:modified>
</cp:coreProperties>
</file>